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1F5F9"/>
                </a:solidFill>
              </a:rPr>
              <a:t>TestOps Platform</a:t>
            </a:r>
          </a:p>
          <a:p>
            <a:pPr>
              <a:defRPr sz="2200">
                <a:solidFill>
                  <a:srgbClr val="5EEAD4"/>
                </a:solidFill>
              </a:defRPr>
            </a:pPr>
            <a:r>
              <a:t>Enterprise AI Testing Product — Visual Architecture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Wave 1 → Wave 6 hardening | Agentic, Multi-Channel, ETL, Mobile, Governance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5303520"/>
            <a:ext cx="109728" cy="109728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5440680"/>
            <a:ext cx="109728" cy="109728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5303520"/>
            <a:ext cx="109728" cy="109728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5440680"/>
            <a:ext cx="109728" cy="109728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0" y="5303520"/>
            <a:ext cx="109728" cy="109728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0" y="5440680"/>
            <a:ext cx="109728" cy="109728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5303520"/>
            <a:ext cx="109728" cy="109728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5440680"/>
            <a:ext cx="109728" cy="109728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Connected-Dot Architecture (End-to-End Flow)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71600"/>
            <a:ext cx="1325880" cy="960120"/>
          </a:xfrm>
          <a:prstGeom prst="ellipse">
            <a:avLst/>
          </a:prstGeom>
          <a:solidFill>
            <a:srgbClr val="0EA5E9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Channels</a:t>
            </a:r>
          </a:p>
        </p:txBody>
      </p:sp>
      <p:sp>
        <p:nvSpPr>
          <p:cNvPr id="4" name="Oval 3"/>
          <p:cNvSpPr/>
          <p:nvPr/>
        </p:nvSpPr>
        <p:spPr>
          <a:xfrm>
            <a:off x="2194560" y="1371600"/>
            <a:ext cx="1325880" cy="9601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React UI</a:t>
            </a:r>
          </a:p>
        </p:txBody>
      </p:sp>
      <p:sp>
        <p:nvSpPr>
          <p:cNvPr id="5" name="Oval 4"/>
          <p:cNvSpPr/>
          <p:nvPr/>
        </p:nvSpPr>
        <p:spPr>
          <a:xfrm>
            <a:off x="3749039" y="1371600"/>
            <a:ext cx="1325880" cy="9601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API Gateway</a:t>
            </a:r>
          </a:p>
        </p:txBody>
      </p:sp>
      <p:sp>
        <p:nvSpPr>
          <p:cNvPr id="6" name="Oval 5"/>
          <p:cNvSpPr/>
          <p:nvPr/>
        </p:nvSpPr>
        <p:spPr>
          <a:xfrm>
            <a:off x="5303520" y="1371600"/>
            <a:ext cx="1325880" cy="9601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Agent Orchestrator</a:t>
            </a:r>
          </a:p>
        </p:txBody>
      </p:sp>
      <p:sp>
        <p:nvSpPr>
          <p:cNvPr id="7" name="Oval 6"/>
          <p:cNvSpPr/>
          <p:nvPr/>
        </p:nvSpPr>
        <p:spPr>
          <a:xfrm>
            <a:off x="7040880" y="1371600"/>
            <a:ext cx="1325880" cy="9601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Testing Agents</a:t>
            </a:r>
          </a:p>
        </p:txBody>
      </p:sp>
      <p:sp>
        <p:nvSpPr>
          <p:cNvPr id="8" name="Oval 7"/>
          <p:cNvSpPr/>
          <p:nvPr/>
        </p:nvSpPr>
        <p:spPr>
          <a:xfrm>
            <a:off x="8778240" y="1371600"/>
            <a:ext cx="1325880" cy="9601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Execution Fabric</a:t>
            </a:r>
            <a:br/>
            <a:r>
              <a:t>(Celery/Redis)</a:t>
            </a:r>
          </a:p>
        </p:txBody>
      </p:sp>
      <p:sp>
        <p:nvSpPr>
          <p:cNvPr id="9" name="Oval 8"/>
          <p:cNvSpPr/>
          <p:nvPr/>
        </p:nvSpPr>
        <p:spPr>
          <a:xfrm>
            <a:off x="3749039" y="3200400"/>
            <a:ext cx="1325880" cy="960120"/>
          </a:xfrm>
          <a:prstGeom prst="ellipse">
            <a:avLst/>
          </a:prstGeom>
          <a:solidFill>
            <a:srgbClr val="0EA5E9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Data/ETL</a:t>
            </a:r>
            <a:br/>
            <a:r>
              <a:t>Engine</a:t>
            </a:r>
          </a:p>
        </p:txBody>
      </p:sp>
      <p:sp>
        <p:nvSpPr>
          <p:cNvPr id="10" name="Oval 9"/>
          <p:cNvSpPr/>
          <p:nvPr/>
        </p:nvSpPr>
        <p:spPr>
          <a:xfrm>
            <a:off x="5303520" y="3200400"/>
            <a:ext cx="1325880" cy="960120"/>
          </a:xfrm>
          <a:prstGeom prst="ellipse">
            <a:avLst/>
          </a:prstGeom>
          <a:solidFill>
            <a:srgbClr val="0EA5E9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Mobile</a:t>
            </a:r>
            <a:br/>
            <a:r>
              <a:t>Cloud Run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3200400"/>
            <a:ext cx="1325880" cy="960120"/>
          </a:xfrm>
          <a:prstGeom prst="ellipse">
            <a:avLst/>
          </a:prstGeom>
          <a:solidFill>
            <a:srgbClr val="0EA5E9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Security/Fuzz</a:t>
            </a:r>
            <a:br/>
            <a:r>
              <a:t>Chaos/Perf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0" y="3200400"/>
            <a:ext cx="1325880" cy="960120"/>
          </a:xfrm>
          <a:prstGeom prst="ellipse">
            <a:avLst/>
          </a:prstGeom>
          <a:solidFill>
            <a:srgbClr val="0EA5E9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Governance</a:t>
            </a:r>
            <a:br/>
            <a:r>
              <a:t>Policy/Approvals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4937760"/>
            <a:ext cx="1325880" cy="9601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Observability</a:t>
            </a:r>
            <a:br/>
            <a:r>
              <a:t>Analytics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4937760"/>
            <a:ext cx="1325880" cy="9601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Integrations</a:t>
            </a:r>
            <a:br/>
            <a:r>
              <a:t>Jira/TestRail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0" y="4937760"/>
            <a:ext cx="1325880" cy="96012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Compliance</a:t>
            </a:r>
            <a:br/>
            <a:r>
              <a:t>SSO/SCIM/DR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65960" y="1851660"/>
            <a:ext cx="228600" cy="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20440" y="1851660"/>
            <a:ext cx="228599" cy="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74919" y="1851660"/>
            <a:ext cx="228601" cy="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29400" y="1851660"/>
            <a:ext cx="411480" cy="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66760" y="1851660"/>
            <a:ext cx="411480" cy="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749039" y="1851660"/>
            <a:ext cx="1325880" cy="182880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303520" y="1851660"/>
            <a:ext cx="1325880" cy="182880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040880" y="1851660"/>
            <a:ext cx="1325880" cy="182880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778240" y="1851660"/>
            <a:ext cx="1325880" cy="182880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74919" y="3680460"/>
            <a:ext cx="228601" cy="173736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303520" y="3680460"/>
            <a:ext cx="1325880" cy="173736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040880" y="3680460"/>
            <a:ext cx="1325880" cy="173736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778240" y="3680460"/>
            <a:ext cx="1325880" cy="173736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29400" y="5417820"/>
            <a:ext cx="411480" cy="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66760" y="5417820"/>
            <a:ext cx="411480" cy="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Layered Architecture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86868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Experience Layer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React UI, Channel Commands,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86868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Control Layer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API Gateway, Auth/RBAC/OIDC, Policy Engine,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698480" cy="86868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Intelligence Layer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Agent Planner, Wave Governance, AI Synthesis/Healing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698480" cy="86868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Execution Layer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Playwright/API/ETL/Mobile/Security/Chaos/Perf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8686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Ops Layer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Queue/Workers, Observability, Alerts, Backup/DR,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● Every dot represents a capability node; connectors represent execution/data/control dependencies.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